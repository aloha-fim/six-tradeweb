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RV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98B"/>
              </a:solidFill>
              <a:ln w="25400" cap="flat">
                <a:solidFill>
                  <a:srgbClr val="12172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4356"/>
              </a:solidFill>
              <a:ln w="25400" cap="flat">
                <a:solidFill>
                  <a:srgbClr val="121726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5C6C"/>
              </a:solidFill>
              <a:ln w="25400" cap="flat">
                <a:solidFill>
                  <a:srgbClr val="12172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Cheap</c:v>
                </c:pt>
                <c:pt idx="1">
                  <c:v>Fair</c:v>
                </c:pt>
                <c:pt idx="2">
                  <c:v>Rich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7</c:v>
                </c:pt>
                <c:pt idx="2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SIX already distributes Tradeweb's Municipal Ai-Price. We built the analytics console on top — and a feedback loop that makes the feed itself better. One line: 'the data was always flowing; we made it flow back.'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gap. Today SIX is a pass-through pipe for the feed. The analytics layer is unclaimed value. Bottom stats anchor it: distributing since 2022, 12 bonds live, 5 banks contributing, 1,003 consumptions.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map — read it left to right. Price it (1), read liquidity (2), mark the book (3), cross-check vs banks (4), enrich + feed back (5). Modules 4 and 5 are new. The blue banner is the loop we close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1. Per-bond evaluated pricing from Tradeweb. Lead with TEY 5.47% at a 37% bracket — that's the muni story. RV doughnut: 4 cheap, 7 fair, 1 rich out of 12 screened.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2. Liquidity GPS turns quotes into a stress read. Overall 52, but the signal is Muni Revenue at 82 and rising (drift +1.26). Note dealer inputs are synthetic/prospective — be honest about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3. Mark the whole book off Ai-Price. $3.44M SMA, weighted TEY 5.25%, DV01 $1,737. Point: one source drives both price and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 — the unique one. Consensus on bonds that don't trade, built on 5 banks' marks + Ai-Price. 6 of 12 flag off-market. The NY Dorm z=+1670 is the headline outlier. No one without SIX's client network can compute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 — the new product. Fuse Tradeweb price + SIX's own curve + SIX reference/corp-actions → a dislocation Z. We even derive the ISIN. This is net-new analytics SIX can 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idea. Walk the 5 steps: Tradeweb prices → SIX distributes (1,003) → clients validate (16) → SIX feeds back (15 accepted) → Tradeweb retrains (15). Blue = Tradeweb, green = SIX. Improved feed returns to 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privacy question. Only sector-level bias, counts, and deviation magnitude cross. Identity, cited basis, and bank marks stay on SIX's side. A challenge can't be traced to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Two unique flows, two new revenue products, one compounding moat, safe by construction. End on: 'we made it flow back.'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6035040" cy="6035040"/>
          </a:xfrm>
          <a:prstGeom prst="ellipse">
            <a:avLst/>
          </a:prstGeom>
          <a:solidFill>
            <a:srgbClr val="0A0D1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822960"/>
            <a:ext cx="4023360" cy="4023360"/>
          </a:xfrm>
          <a:prstGeom prst="ellipse">
            <a:avLst/>
          </a:prstGeom>
          <a:solidFill>
            <a:srgbClr val="070910"/>
          </a:solidFill>
          <a:ln w="12700">
            <a:solidFill>
              <a:srgbClr val="1E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HACKATHON · DATA &amp; ANALYTICS SERVICE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</a:t>
            </a:r>
            <a:pPr algn="l" indent="0" marL="0">
              <a:buNone/>
            </a:pPr>
            <a:r>
              <a:rPr lang="en-US" sz="6000" b="1" dirty="0">
                <a:solidFill>
                  <a:srgbClr val="5E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l" indent="0" marL="0">
              <a:buNone/>
            </a:pPr>
            <a:r>
              <a:rPr lang="en-US" sz="6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 Analytics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distributed Tradeweb data into monetisable intelligence —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35661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closed loop that makes the underlying data better.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4892040"/>
            <a:ext cx="2103120" cy="841248"/>
          </a:xfrm>
          <a:prstGeom prst="roundRect">
            <a:avLst>
              <a:gd name="adj" fmla="val 13043"/>
            </a:avLst>
          </a:prstGeom>
          <a:solidFill>
            <a:srgbClr val="0A2A22"/>
          </a:solidFill>
          <a:ln w="12700">
            <a:solidFill>
              <a:srgbClr val="00D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5221224"/>
            <a:ext cx="164592" cy="164592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5001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9848" y="5312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distributes + enriches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62656" y="508406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2172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5202936"/>
            <a:ext cx="219456" cy="2194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75888" y="489204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11E33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13632" y="5221224"/>
            <a:ext cx="164592" cy="164592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6" name="Text 13"/>
          <p:cNvSpPr/>
          <p:nvPr/>
        </p:nvSpPr>
        <p:spPr>
          <a:xfrm>
            <a:off x="4178808" y="50017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78808" y="5312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+ retrains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373368" y="48920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Municipal · Ai-Price, distributed by SIX since 2022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distributes the data. It doesn't yet own the intelligence on top.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532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operates its own exchange and distributes Tradeweb's Municipal Ai-Price feed. Today that feed is largely a pass-through. The analytics layer — tax-equivalent yield, relative value, portfolio risk, multi-source consensus, liquidity — is unclaimed, monetisable value that SIX is uniquely positioned to build.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120640" cy="1481328"/>
          </a:xfrm>
          <a:prstGeom prst="roundRect">
            <a:avLst>
              <a:gd name="adj" fmla="val 6790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2139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Pass-through distribution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12280" y="25054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price in, same price out. No analytics, no derived products, no feedback to the source.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23960" y="325526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A203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2" y="3374136"/>
            <a:ext cx="219456" cy="2194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92240" y="3822192"/>
            <a:ext cx="5120640" cy="1874520"/>
          </a:xfrm>
          <a:prstGeom prst="roundRect">
            <a:avLst>
              <a:gd name="adj" fmla="val 5366"/>
            </a:avLst>
          </a:prstGeom>
          <a:solidFill>
            <a:srgbClr val="0A2A22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3822192"/>
            <a:ext cx="5120640" cy="1874520"/>
          </a:xfrm>
          <a:prstGeom prst="roundRect">
            <a:avLst>
              <a:gd name="adj" fmla="val 5366"/>
            </a:avLst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CONSOLE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42702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Monetisable analytics + a closed loop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812280" y="4983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FE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analytics surfaces SIX can sell — plus two genuinely unique data products and a feedback loop that improves the very feed SIX resells.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4572000"/>
            <a:ext cx="1291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566928" y="5047488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DISTRIBUTING AI-PRICE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949958" y="4572000"/>
            <a:ext cx="1291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1949958" y="5047488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BONDS LIVE IN CONSOLE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332988" y="4572000"/>
            <a:ext cx="1291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3332988" y="5047488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CLIENTS CONTRIBUTING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16018" y="4572000"/>
            <a:ext cx="1291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1,003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4716018" y="5047488"/>
            <a:ext cx="1291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CONSUMPTIONS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" y="4370832"/>
            <a:ext cx="553212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console, five surfaces — a single analyst flow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Ai-Price snapshot moves left-to-right through the console: price it, read the liquidity, mark the book, cross-check against the banks, then enrich and feed quality back.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1977481" cy="2331720"/>
          </a:xfrm>
          <a:prstGeom prst="roundRect">
            <a:avLst>
              <a:gd name="adj" fmla="val 508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7157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882189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67169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0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41248" y="3502152"/>
            <a:ext cx="14745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4050792"/>
            <a:ext cx="152028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pricing &amp; relative value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97" y="3479292"/>
            <a:ext cx="256032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37017" y="2423160"/>
            <a:ext cx="1977481" cy="2331720"/>
          </a:xfrm>
          <a:prstGeom prst="roundRect">
            <a:avLst>
              <a:gd name="adj" fmla="val 508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11337" y="27157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758" y="28821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37259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0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3111337" y="3502152"/>
            <a:ext cx="14745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GPS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111337" y="4050792"/>
            <a:ext cx="152028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stress &amp; drift signals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787" y="3479292"/>
            <a:ext cx="256032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107107" y="2423160"/>
            <a:ext cx="1977481" cy="2331720"/>
          </a:xfrm>
          <a:prstGeom prst="roundRect">
            <a:avLst>
              <a:gd name="adj" fmla="val 508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381427" y="27157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7848" y="2882189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7348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0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5381427" y="3502152"/>
            <a:ext cx="14745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381427" y="4050792"/>
            <a:ext cx="152028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Valuation, TEY &amp; DV01 risk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2876" y="3479292"/>
            <a:ext cx="256032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77196" y="2423160"/>
            <a:ext cx="1977481" cy="2331720"/>
          </a:xfrm>
          <a:prstGeom prst="roundRect">
            <a:avLst>
              <a:gd name="adj" fmla="val 508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651516" y="27157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7937" y="2882189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577438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0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2" name="Text 23"/>
          <p:cNvSpPr/>
          <p:nvPr/>
        </p:nvSpPr>
        <p:spPr>
          <a:xfrm>
            <a:off x="7651516" y="3502152"/>
            <a:ext cx="14745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1600" dirty="0"/>
          </a:p>
        </p:txBody>
      </p:sp>
      <p:sp>
        <p:nvSpPr>
          <p:cNvPr id="33" name="Text 24"/>
          <p:cNvSpPr/>
          <p:nvPr/>
        </p:nvSpPr>
        <p:spPr>
          <a:xfrm>
            <a:off x="7651516" y="4050792"/>
            <a:ext cx="152028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Ai-Price vs 5 bank marks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7651516" y="2734056"/>
            <a:ext cx="0" cy="0"/>
          </a:xfrm>
          <a:prstGeom prst="roundRect">
            <a:avLst/>
          </a:prstGeom>
          <a:noFill/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966" y="3479292"/>
            <a:ext cx="256032" cy="21945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647286" y="2423160"/>
            <a:ext cx="1977481" cy="2331720"/>
          </a:xfrm>
          <a:prstGeom prst="roundRect">
            <a:avLst>
              <a:gd name="adj" fmla="val 508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9921606" y="27157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8027" y="2882189"/>
            <a:ext cx="307238" cy="30723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0847527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0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40" name="Text 29"/>
          <p:cNvSpPr/>
          <p:nvPr/>
        </p:nvSpPr>
        <p:spPr>
          <a:xfrm>
            <a:off x="9921606" y="3502152"/>
            <a:ext cx="14745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bundle</a:t>
            </a:r>
            <a:endParaRPr lang="en-US" sz="1600" dirty="0"/>
          </a:p>
        </p:txBody>
      </p:sp>
      <p:sp>
        <p:nvSpPr>
          <p:cNvPr id="41" name="Text 30"/>
          <p:cNvSpPr/>
          <p:nvPr/>
        </p:nvSpPr>
        <p:spPr>
          <a:xfrm>
            <a:off x="9921606" y="4050792"/>
            <a:ext cx="152028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+ SIX rates &amp; ref-data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9921606" y="2734056"/>
            <a:ext cx="0" cy="0"/>
          </a:xfrm>
          <a:prstGeom prst="roundRect">
            <a:avLst/>
          </a:prstGeom>
          <a:noFill/>
          <a:ln/>
        </p:spPr>
      </p:sp>
      <p:sp>
        <p:nvSpPr>
          <p:cNvPr id="43" name="Shape 32"/>
          <p:cNvSpPr/>
          <p:nvPr/>
        </p:nvSpPr>
        <p:spPr>
          <a:xfrm>
            <a:off x="8440278" y="273405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0D98B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3430" y="2807208"/>
            <a:ext cx="164592" cy="16459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714598" y="2734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10710367" y="273405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0D98B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3519" y="2807208"/>
            <a:ext cx="164592" cy="16459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0984687" y="2734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566928" y="5166360"/>
            <a:ext cx="11057839" cy="914400"/>
          </a:xfrm>
          <a:prstGeom prst="roundRect">
            <a:avLst>
              <a:gd name="adj" fmla="val 12000"/>
            </a:avLst>
          </a:prstGeom>
          <a:solidFill>
            <a:srgbClr val="111E33"/>
          </a:solidFill>
          <a:ln w="15875">
            <a:solidFill>
              <a:srgbClr val="5B9DFF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859536" y="53949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5B9DFF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408" y="551383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527048" y="5166360"/>
            <a:ext cx="97776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C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quality signals from every module feed back to Tradeweb, which retrains Ai-Price. The data SIX resells gets better with use.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Ai-Price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6736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pricing &amp; relative value, per bond — bid / mid / ask, yield, tax-equivalent yield, RV signal, confidence.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70087" y="512064"/>
            <a:ext cx="3154680" cy="420624"/>
          </a:xfrm>
          <a:prstGeom prst="roundRect">
            <a:avLst>
              <a:gd name="adj" fmla="val 21739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2967" y="676656"/>
            <a:ext cx="91440" cy="914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9" name="Text 7"/>
          <p:cNvSpPr/>
          <p:nvPr/>
        </p:nvSpPr>
        <p:spPr>
          <a:xfrm>
            <a:off x="8835847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Tradeweb · Ai-Price MDP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783080"/>
            <a:ext cx="6583680" cy="4160520"/>
          </a:xfrm>
          <a:prstGeom prst="roundRect">
            <a:avLst>
              <a:gd name="adj" fmla="val 2418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 · 12 BONDS · INTRADAY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395728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" y="2871216"/>
            <a:ext cx="185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BONDS PRICED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83408" y="2395728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883408" y="2871216"/>
            <a:ext cx="185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YIELD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4128" y="2395728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34128" y="2871216"/>
            <a:ext cx="185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TEY @ 37%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3474720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54bp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2688" y="3950208"/>
            <a:ext cx="185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SPREAD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3408" y="3474720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6.0y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883408" y="3950208"/>
            <a:ext cx="185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DURATION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34128" y="3474720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34128" y="3950208"/>
            <a:ext cx="185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ILLIQUID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2688" y="4407408"/>
            <a:ext cx="585216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526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RELATIVE-VALUE EXAMPLES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452152AR7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50008" y="4828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St 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27448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33288" y="4828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96%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51572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452200CD1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50008" y="5157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IL GO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27448" y="51572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123bp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33288" y="51572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BBB+ · 8.3y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" y="5486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13066YTY5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50008" y="5486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Health Fac Rev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27448" y="5486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33288" y="5486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88%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60920" y="1783080"/>
            <a:ext cx="4251960" cy="4160520"/>
          </a:xfrm>
          <a:prstGeom prst="roundRect">
            <a:avLst>
              <a:gd name="adj" fmla="val 2418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266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 DISTRIBUTION</a:t>
            </a:r>
            <a:endParaRPr lang="en-US" sz="10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7498080" y="2286000"/>
          <a:ext cx="3977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 40"/>
          <p:cNvSpPr/>
          <p:nvPr/>
        </p:nvSpPr>
        <p:spPr>
          <a:xfrm>
            <a:off x="8732520" y="3063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
</a:t>
            </a:r>
            <a:pPr algn="ctr" indent="0" marL="0">
              <a:buNone/>
            </a:pPr>
            <a:r>
              <a:rPr lang="en-US" sz="11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</a:t>
            </a:r>
            <a:endParaRPr lang="en-US" sz="3000" dirty="0"/>
          </a:p>
        </p:txBody>
      </p:sp>
      <p:sp>
        <p:nvSpPr>
          <p:cNvPr id="44" name="Shape 41"/>
          <p:cNvSpPr/>
          <p:nvPr/>
        </p:nvSpPr>
        <p:spPr>
          <a:xfrm>
            <a:off x="7726680" y="5166360"/>
            <a:ext cx="146304" cy="146304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45" name="Text 42"/>
          <p:cNvSpPr/>
          <p:nvPr/>
        </p:nvSpPr>
        <p:spPr>
          <a:xfrm>
            <a:off x="7946136" y="5074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025128" y="5166360"/>
            <a:ext cx="146304" cy="146304"/>
          </a:xfrm>
          <a:prstGeom prst="ellipse">
            <a:avLst/>
          </a:prstGeom>
          <a:solidFill>
            <a:srgbClr val="8A93A4"/>
          </a:solidFill>
          <a:ln/>
        </p:spPr>
      </p:sp>
      <p:sp>
        <p:nvSpPr>
          <p:cNvPr id="47" name="Text 44"/>
          <p:cNvSpPr/>
          <p:nvPr/>
        </p:nvSpPr>
        <p:spPr>
          <a:xfrm>
            <a:off x="9244584" y="5074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indent="0" marL="0">
              <a:buNone/>
            </a:pPr>
            <a:r>
              <a:rPr lang="en-US" sz="12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10323576" y="5166360"/>
            <a:ext cx="146304" cy="146304"/>
          </a:xfrm>
          <a:prstGeom prst="ellipse">
            <a:avLst/>
          </a:prstGeom>
          <a:solidFill>
            <a:srgbClr val="FF5C6C"/>
          </a:solidFill>
          <a:ln/>
        </p:spPr>
      </p:sp>
      <p:sp>
        <p:nvSpPr>
          <p:cNvPr id="49" name="Text 46"/>
          <p:cNvSpPr/>
          <p:nvPr/>
        </p:nvSpPr>
        <p:spPr>
          <a:xfrm>
            <a:off x="10543032" y="5074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intelligence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6736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Liquidity GPS — z-score and drift signals translate raw quotes into a per-sector stress read.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70087" y="512064"/>
            <a:ext cx="3154680" cy="420624"/>
          </a:xfrm>
          <a:prstGeom prst="roundRect">
            <a:avLst>
              <a:gd name="adj" fmla="val 21739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2967" y="676656"/>
            <a:ext cx="91440" cy="914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9" name="Text 7"/>
          <p:cNvSpPr/>
          <p:nvPr/>
        </p:nvSpPr>
        <p:spPr>
          <a:xfrm>
            <a:off x="8835847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Liquidity GPS · Model 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783080"/>
            <a:ext cx="3657600" cy="4160520"/>
          </a:xfrm>
          <a:prstGeom prst="roundRect">
            <a:avLst>
              <a:gd name="adj" fmla="val 2750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STRESS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3317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2898648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2688" y="397764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2C1418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9144000"/>
            <a:ext cx="9144" cy="91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3856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32688" y="45902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stress building in Muni Revenue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60520" y="1783080"/>
            <a:ext cx="7452360" cy="4160520"/>
          </a:xfrm>
          <a:prstGeom prst="roundRect">
            <a:avLst>
              <a:gd name="adj" fmla="val 2418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2628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 STRESS  ·  z-SCORE · DRIFT · 90-DAY BID/ASK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26280" y="2542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55080" y="2542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-1.02   </a:t>
            </a:r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-1.61   </a:t>
            </a:r>
            <a:pPr algn="l" indent="0" marL="0">
              <a:buNone/>
            </a:pPr>
            <a:r>
              <a:rPr lang="en-US" sz="1050" b="1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698480" y="25054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526280" y="2926080"/>
            <a:ext cx="6903720" cy="146304"/>
          </a:xfrm>
          <a:prstGeom prst="roundRect">
            <a:avLst>
              <a:gd name="adj" fmla="val 50000"/>
            </a:avLst>
          </a:prstGeom>
          <a:solidFill>
            <a:srgbClr val="1A2030"/>
          </a:solidFill>
          <a:ln/>
        </p:spPr>
      </p:sp>
      <p:sp>
        <p:nvSpPr>
          <p:cNvPr id="26" name="Shape 23"/>
          <p:cNvSpPr/>
          <p:nvPr/>
        </p:nvSpPr>
        <p:spPr>
          <a:xfrm>
            <a:off x="4526280" y="2926080"/>
            <a:ext cx="1104595" cy="146304"/>
          </a:xfrm>
          <a:prstGeom prst="roundRect">
            <a:avLst>
              <a:gd name="adj" fmla="val 50000"/>
            </a:avLst>
          </a:prstGeom>
          <a:solidFill>
            <a:srgbClr val="00D98B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33832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MBS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55080" y="33832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+1.18   </a:t>
            </a:r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-0.83   </a:t>
            </a:r>
            <a:pPr algn="l" indent="0" marL="0">
              <a:buNone/>
            </a:pPr>
            <a:r>
              <a:rPr lang="en-US" sz="1050" b="1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698480" y="33467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7328"/>
            <a:ext cx="6903720" cy="146304"/>
          </a:xfrm>
          <a:prstGeom prst="roundRect">
            <a:avLst>
              <a:gd name="adj" fmla="val 50000"/>
            </a:avLst>
          </a:prstGeom>
          <a:solidFill>
            <a:srgbClr val="1A2030"/>
          </a:solidFill>
          <a:ln/>
        </p:spPr>
      </p:sp>
      <p:sp>
        <p:nvSpPr>
          <p:cNvPr id="31" name="Shape 28"/>
          <p:cNvSpPr/>
          <p:nvPr/>
        </p:nvSpPr>
        <p:spPr>
          <a:xfrm>
            <a:off x="4526280" y="3767328"/>
            <a:ext cx="4349344" cy="146304"/>
          </a:xfrm>
          <a:prstGeom prst="roundRect">
            <a:avLst>
              <a:gd name="adj" fmla="val 50000"/>
            </a:avLst>
          </a:prstGeom>
          <a:solidFill>
            <a:srgbClr val="F5B544"/>
          </a:solidFill>
          <a:ln/>
        </p:spPr>
      </p:sp>
      <p:sp>
        <p:nvSpPr>
          <p:cNvPr id="32" name="Text 29"/>
          <p:cNvSpPr/>
          <p:nvPr/>
        </p:nvSpPr>
        <p:spPr>
          <a:xfrm>
            <a:off x="4526280" y="42245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 GO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355080" y="42245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+0.09   </a:t>
            </a:r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-0.45   </a:t>
            </a:r>
            <a:pPr algn="l" indent="0" marL="0">
              <a:buNone/>
            </a:pPr>
            <a:r>
              <a:rPr lang="en-US" sz="1050" b="1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0698480" y="41879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4526280" y="4608576"/>
            <a:ext cx="6903720" cy="146304"/>
          </a:xfrm>
          <a:prstGeom prst="roundRect">
            <a:avLst>
              <a:gd name="adj" fmla="val 50000"/>
            </a:avLst>
          </a:prstGeom>
          <a:solidFill>
            <a:srgbClr val="1A2030"/>
          </a:solidFill>
          <a:ln/>
        </p:spPr>
      </p:sp>
      <p:sp>
        <p:nvSpPr>
          <p:cNvPr id="36" name="Shape 33"/>
          <p:cNvSpPr/>
          <p:nvPr/>
        </p:nvSpPr>
        <p:spPr>
          <a:xfrm>
            <a:off x="4526280" y="4608576"/>
            <a:ext cx="3244748" cy="146304"/>
          </a:xfrm>
          <a:prstGeom prst="roundRect">
            <a:avLst>
              <a:gd name="adj" fmla="val 50000"/>
            </a:avLst>
          </a:prstGeom>
          <a:solidFill>
            <a:srgbClr val="F5B544"/>
          </a:solidFill>
          <a:ln/>
        </p:spPr>
      </p:sp>
      <p:sp>
        <p:nvSpPr>
          <p:cNvPr id="37" name="Text 34"/>
          <p:cNvSpPr/>
          <p:nvPr/>
        </p:nvSpPr>
        <p:spPr>
          <a:xfrm>
            <a:off x="4526280" y="5065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 Revenue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355080" y="5065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+1.07   </a:t>
            </a:r>
            <a:pPr algn="l"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+1.26   </a:t>
            </a:r>
            <a:pPr algn="l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Rising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0698480" y="5029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4526280" y="5449824"/>
            <a:ext cx="6903720" cy="146304"/>
          </a:xfrm>
          <a:prstGeom prst="roundRect">
            <a:avLst>
              <a:gd name="adj" fmla="val 50000"/>
            </a:avLst>
          </a:prstGeom>
          <a:solidFill>
            <a:srgbClr val="1A2030"/>
          </a:solidFill>
          <a:ln/>
        </p:spPr>
      </p:sp>
      <p:sp>
        <p:nvSpPr>
          <p:cNvPr id="41" name="Shape 38"/>
          <p:cNvSpPr/>
          <p:nvPr/>
        </p:nvSpPr>
        <p:spPr>
          <a:xfrm>
            <a:off x="4526280" y="5449824"/>
            <a:ext cx="5661050" cy="146304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</p:spPr>
      </p:sp>
      <p:sp>
        <p:nvSpPr>
          <p:cNvPr id="42" name="Text 39"/>
          <p:cNvSpPr/>
          <p:nvPr/>
        </p:nvSpPr>
        <p:spPr>
          <a:xfrm>
            <a:off x="4526280" y="56144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Inter-dealer (Dealerweb) inputs are synthetic and prospective.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valuation &amp; risk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6736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whole book off Ai-Price, then roll up yield, tax-equivalent yield, duration and DV01.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70087" y="512064"/>
            <a:ext cx="3154680" cy="420624"/>
          </a:xfrm>
          <a:prstGeom prst="roundRect">
            <a:avLst>
              <a:gd name="adj" fmla="val 21739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2967" y="676656"/>
            <a:ext cx="91440" cy="914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9" name="Text 7"/>
          <p:cNvSpPr/>
          <p:nvPr/>
        </p:nvSpPr>
        <p:spPr>
          <a:xfrm>
            <a:off x="8835847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Valuation &amp; risk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783080"/>
            <a:ext cx="5212080" cy="4160520"/>
          </a:xfrm>
          <a:prstGeom prst="roundRect">
            <a:avLst>
              <a:gd name="adj" fmla="val 2418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MUNI SMA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$3,440,052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978408" y="3749040"/>
            <a:ext cx="438912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93192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entirely off the Tradeweb Ai-Price feed — one source drives both pricing and the portfolio's risk read.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1783080"/>
            <a:ext cx="2674620" cy="1874520"/>
          </a:xfrm>
          <a:prstGeom prst="roundRect">
            <a:avLst>
              <a:gd name="adj" fmla="val 536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81928" y="2148840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81928" y="2990088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YIELD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38260" y="1783080"/>
            <a:ext cx="2674620" cy="1874520"/>
          </a:xfrm>
          <a:prstGeom prst="roundRect">
            <a:avLst>
              <a:gd name="adj" fmla="val 536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0868" y="2148840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5.25%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30868" y="2990088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TEY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3904488"/>
            <a:ext cx="2674620" cy="1874520"/>
          </a:xfrm>
          <a:prstGeom prst="roundRect">
            <a:avLst>
              <a:gd name="adj" fmla="val 536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81928" y="4270248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5.05y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281928" y="5111496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DURATION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38260" y="3904488"/>
            <a:ext cx="2674620" cy="1874520"/>
          </a:xfrm>
          <a:prstGeom prst="roundRect">
            <a:avLst>
              <a:gd name="adj" fmla="val 536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30868" y="4270248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$1,737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230868" y="5111496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DV01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consensus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6736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Ai-Price against where 5 banks actually carry each bond.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70087" y="512064"/>
            <a:ext cx="3154680" cy="420624"/>
          </a:xfrm>
          <a:prstGeom prst="roundRect">
            <a:avLst>
              <a:gd name="adj" fmla="val 21739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2967" y="676656"/>
            <a:ext cx="91440" cy="914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9" name="Text 7"/>
          <p:cNvSpPr/>
          <p:nvPr/>
        </p:nvSpPr>
        <p:spPr>
          <a:xfrm>
            <a:off x="8835847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Consensus · 5 banks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70087" y="102412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0A2A22"/>
          </a:solidFill>
          <a:ln w="12700">
            <a:solidFill>
              <a:srgbClr val="00D98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097280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27287" y="1024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GENUINELY UNIQUE TO SIX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6928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66928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487168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2487168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OFF-MARKET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407408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4407408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CONTRIBUTORS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" y="2697480"/>
            <a:ext cx="548640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28346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on non-trading bonds is something only SIX can compute — it sits on five banks' marks plus the Ai-Price evaluation. A flag means Ai-Price has drifted from where the book is actually carried.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418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OFF-MARKET  ·  |z| ≥ 1.5 vs BANK DISPERSION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83680" y="239572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/>
        </p:spPr>
      </p:sp>
      <p:sp>
        <p:nvSpPr>
          <p:cNvPr id="26" name="Text 23"/>
          <p:cNvSpPr/>
          <p:nvPr/>
        </p:nvSpPr>
        <p:spPr>
          <a:xfrm>
            <a:off x="6748272" y="23957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64971XAN0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5528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Dorm Auth Rev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0241280" y="2395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z=+1670.00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0" y="294436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/>
        </p:spPr>
      </p:sp>
      <p:sp>
        <p:nvSpPr>
          <p:cNvPr id="30" name="Text 27"/>
          <p:cNvSpPr/>
          <p:nvPr/>
        </p:nvSpPr>
        <p:spPr>
          <a:xfrm>
            <a:off x="6748272" y="2944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79770GGV8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955280" y="2944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 CA Util Rev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0241280" y="2944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z=+17.71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583680" y="349300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/>
        </p:spPr>
      </p:sp>
      <p:sp>
        <p:nvSpPr>
          <p:cNvPr id="34" name="Text 31"/>
          <p:cNvSpPr/>
          <p:nvPr/>
        </p:nvSpPr>
        <p:spPr>
          <a:xfrm>
            <a:off x="6748272" y="3493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344631AC2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955280" y="3493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St Brd Ed Rev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0241280" y="34930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z=+4.83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583680" y="404164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/>
        </p:spPr>
      </p:sp>
      <p:sp>
        <p:nvSpPr>
          <p:cNvPr id="38" name="Text 35"/>
          <p:cNvSpPr/>
          <p:nvPr/>
        </p:nvSpPr>
        <p:spPr>
          <a:xfrm>
            <a:off x="6748272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882723YK4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955280" y="4041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St Wtr Dev Rev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241280" y="4041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z=+3.73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583680" y="459028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/>
        </p:spPr>
      </p:sp>
      <p:sp>
        <p:nvSpPr>
          <p:cNvPr id="42" name="Text 39"/>
          <p:cNvSpPr/>
          <p:nvPr/>
        </p:nvSpPr>
        <p:spPr>
          <a:xfrm>
            <a:off x="6748272" y="45902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882724AB3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955280" y="4590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A&amp;M Univ Rev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10241280" y="45902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z=+2.93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583680" y="513892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/>
        </p:spPr>
      </p:sp>
      <p:sp>
        <p:nvSpPr>
          <p:cNvPr id="46" name="Text 43"/>
          <p:cNvSpPr/>
          <p:nvPr/>
        </p:nvSpPr>
        <p:spPr>
          <a:xfrm>
            <a:off x="6748272" y="51389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13066YTY5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955280" y="5138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Health Fac Rev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10241280" y="51389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z=+1.53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bundle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6736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Tradeweb's price with SIX's own curve and reference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70087" y="512064"/>
            <a:ext cx="3154680" cy="420624"/>
          </a:xfrm>
          <a:prstGeom prst="roundRect">
            <a:avLst>
              <a:gd name="adj" fmla="val 21739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2967" y="676656"/>
            <a:ext cx="91440" cy="9144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9" name="Text 7"/>
          <p:cNvSpPr/>
          <p:nvPr/>
        </p:nvSpPr>
        <p:spPr>
          <a:xfrm>
            <a:off x="8835847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Enriched bundle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70087" y="102412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0A2A22"/>
          </a:solidFill>
          <a:ln w="12700">
            <a:solidFill>
              <a:srgbClr val="00D98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097280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27287" y="1024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ANALYTICS PRODUCT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" y="18288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11E33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20299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5B9D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1488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44168" y="18288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price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328416" y="1828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3813048" y="18288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A2A22"/>
          </a:solidFill>
          <a:ln w="12700">
            <a:solidFill>
              <a:srgbClr val="00D98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014216" y="20299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14884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90288" y="18288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USD curve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574536" y="1828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7059168" y="18288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A2A22"/>
          </a:solidFill>
          <a:ln w="12700">
            <a:solidFill>
              <a:srgbClr val="00D98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60336" y="20299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2148840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36408" y="18288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ref + corp-actions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802368" y="1828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per-bond dislocation Z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66928" y="2971800"/>
            <a:ext cx="11057839" cy="3017520"/>
          </a:xfrm>
          <a:prstGeom prst="roundRect">
            <a:avLst>
              <a:gd name="adj" fmla="val 3333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932688" y="3200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CUSIP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2258568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 (DERIVED)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950208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333488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TEY SPD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8705088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DISLOC Z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0076688" y="3200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932688" y="3529584"/>
            <a:ext cx="10326319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32688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13066YTY5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2258568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US13066YTY58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3950208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Health Fac Rev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7333488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+235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8705088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10076688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749808" y="4069080"/>
            <a:ext cx="10692079" cy="420624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32688" y="41056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882724AB3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2258568" y="41056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US882724AB37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3950208" y="41056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A&amp;M Univ Rev</a:t>
            </a:r>
            <a:endParaRPr lang="en-US" sz="1250" dirty="0"/>
          </a:p>
        </p:txBody>
      </p:sp>
      <p:sp>
        <p:nvSpPr>
          <p:cNvPr id="48" name="Text 42"/>
          <p:cNvSpPr/>
          <p:nvPr/>
        </p:nvSpPr>
        <p:spPr>
          <a:xfrm>
            <a:off x="7333488" y="4105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+104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8705088" y="4105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10076688" y="4105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932688" y="4553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574200EF2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2258568" y="45537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US574200EF27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3950208" y="4553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Maryland Trans Auth Rev</a:t>
            </a:r>
            <a:endParaRPr lang="en-US" sz="1250" dirty="0"/>
          </a:p>
        </p:txBody>
      </p:sp>
      <p:sp>
        <p:nvSpPr>
          <p:cNvPr id="54" name="Text 48"/>
          <p:cNvSpPr/>
          <p:nvPr/>
        </p:nvSpPr>
        <p:spPr>
          <a:xfrm>
            <a:off x="7333488" y="4553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+133</a:t>
            </a:r>
            <a:endParaRPr lang="en-US" sz="1100" dirty="0"/>
          </a:p>
        </p:txBody>
      </p:sp>
      <p:sp>
        <p:nvSpPr>
          <p:cNvPr id="55" name="Text 49"/>
          <p:cNvSpPr/>
          <p:nvPr/>
        </p:nvSpPr>
        <p:spPr>
          <a:xfrm>
            <a:off x="8705088" y="4553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1100" dirty="0"/>
          </a:p>
        </p:txBody>
      </p:sp>
      <p:sp>
        <p:nvSpPr>
          <p:cNvPr id="56" name="Text 50"/>
          <p:cNvSpPr/>
          <p:nvPr/>
        </p:nvSpPr>
        <p:spPr>
          <a:xfrm>
            <a:off x="10076688" y="4553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749808" y="4965192"/>
            <a:ext cx="10692079" cy="420624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932688" y="5001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452152AR7</a:t>
            </a:r>
            <a:endParaRPr lang="en-US" sz="1050" dirty="0"/>
          </a:p>
        </p:txBody>
      </p:sp>
      <p:sp>
        <p:nvSpPr>
          <p:cNvPr id="59" name="Text 53"/>
          <p:cNvSpPr/>
          <p:nvPr/>
        </p:nvSpPr>
        <p:spPr>
          <a:xfrm>
            <a:off x="2258568" y="5001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US452152AR73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3950208" y="5001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St GO</a:t>
            </a:r>
            <a:endParaRPr lang="en-US" sz="1250" dirty="0"/>
          </a:p>
        </p:txBody>
      </p:sp>
      <p:sp>
        <p:nvSpPr>
          <p:cNvPr id="61" name="Text 55"/>
          <p:cNvSpPr/>
          <p:nvPr/>
        </p:nvSpPr>
        <p:spPr>
          <a:xfrm>
            <a:off x="7333488" y="5001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+117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8705088" y="5001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10076688" y="5001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932688" y="54498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452200CD1</a:t>
            </a:r>
            <a:endParaRPr lang="en-US" sz="1050" dirty="0"/>
          </a:p>
        </p:txBody>
      </p:sp>
      <p:sp>
        <p:nvSpPr>
          <p:cNvPr id="65" name="Text 59"/>
          <p:cNvSpPr/>
          <p:nvPr/>
        </p:nvSpPr>
        <p:spPr>
          <a:xfrm>
            <a:off x="2258568" y="54498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US452200CD12</a:t>
            </a:r>
            <a:endParaRPr lang="en-US" sz="1050" dirty="0"/>
          </a:p>
        </p:txBody>
      </p:sp>
      <p:sp>
        <p:nvSpPr>
          <p:cNvPr id="66" name="Text 60"/>
          <p:cNvSpPr/>
          <p:nvPr/>
        </p:nvSpPr>
        <p:spPr>
          <a:xfrm>
            <a:off x="3950208" y="5449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IL GO</a:t>
            </a:r>
            <a:endParaRPr lang="en-US" sz="1250" dirty="0"/>
          </a:p>
        </p:txBody>
      </p:sp>
      <p:sp>
        <p:nvSpPr>
          <p:cNvPr id="67" name="Text 61"/>
          <p:cNvSpPr/>
          <p:nvPr/>
        </p:nvSpPr>
        <p:spPr>
          <a:xfrm>
            <a:off x="7333488" y="5449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+250</a:t>
            </a:r>
            <a:endParaRPr lang="en-US" sz="1100" dirty="0"/>
          </a:p>
        </p:txBody>
      </p:sp>
      <p:sp>
        <p:nvSpPr>
          <p:cNvPr id="68" name="Text 62"/>
          <p:cNvSpPr/>
          <p:nvPr/>
        </p:nvSpPr>
        <p:spPr>
          <a:xfrm>
            <a:off x="8705088" y="5449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endParaRPr lang="en-US" sz="1100" dirty="0"/>
          </a:p>
        </p:txBody>
      </p:sp>
      <p:sp>
        <p:nvSpPr>
          <p:cNvPr id="69" name="Text 63"/>
          <p:cNvSpPr/>
          <p:nvPr/>
        </p:nvSpPr>
        <p:spPr>
          <a:xfrm>
            <a:off x="10076688" y="5449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consumption makes the data better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prices, SIX distributes, clients validate, SIX feeds quality back, Tradeweb retrains. A closed loop where SIX's distribution becomes a moat instead of a margin.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1962851" cy="2240280"/>
          </a:xfrm>
          <a:prstGeom prst="roundRect">
            <a:avLst>
              <a:gd name="adj" fmla="val 5590"/>
            </a:avLst>
          </a:prstGeom>
          <a:solidFill>
            <a:srgbClr val="111E33"/>
          </a:solidFill>
          <a:ln w="15875">
            <a:solidFill>
              <a:srgbClr val="5B9D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2594" y="2743200"/>
            <a:ext cx="731520" cy="73152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9" name="Text 7"/>
          <p:cNvSpPr/>
          <p:nvPr/>
        </p:nvSpPr>
        <p:spPr>
          <a:xfrm>
            <a:off x="1182594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3803904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prices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4169664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bonds priced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355" y="3488436"/>
            <a:ext cx="237744" cy="2011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840675" y="2468880"/>
            <a:ext cx="1962851" cy="2240280"/>
          </a:xfrm>
          <a:prstGeom prst="roundRect">
            <a:avLst>
              <a:gd name="adj" fmla="val 5590"/>
            </a:avLst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56341" y="2743200"/>
            <a:ext cx="731520" cy="731520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16" name="Text 13"/>
          <p:cNvSpPr/>
          <p:nvPr/>
        </p:nvSpPr>
        <p:spPr>
          <a:xfrm>
            <a:off x="3456341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840675" y="356616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950403" y="3803904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distributes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950403" y="4169664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1,003 consumptions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102" y="3488436"/>
            <a:ext cx="237744" cy="20116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114422" y="2468880"/>
            <a:ext cx="1962851" cy="2240280"/>
          </a:xfrm>
          <a:prstGeom prst="roundRect">
            <a:avLst>
              <a:gd name="adj" fmla="val 5590"/>
            </a:avLst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730088" y="2743200"/>
            <a:ext cx="731520" cy="731520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23" name="Text 19"/>
          <p:cNvSpPr/>
          <p:nvPr/>
        </p:nvSpPr>
        <p:spPr>
          <a:xfrm>
            <a:off x="5730088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5114422" y="356616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24150" y="3803904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validate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224150" y="4169664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price challenges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849" y="3488436"/>
            <a:ext cx="237744" cy="20116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388169" y="2468880"/>
            <a:ext cx="1962851" cy="2240280"/>
          </a:xfrm>
          <a:prstGeom prst="roundRect">
            <a:avLst>
              <a:gd name="adj" fmla="val 5590"/>
            </a:avLst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003835" y="2743200"/>
            <a:ext cx="731520" cy="731520"/>
          </a:xfrm>
          <a:prstGeom prst="ellipse">
            <a:avLst/>
          </a:prstGeom>
          <a:solidFill>
            <a:srgbClr val="00D98B"/>
          </a:solidFill>
          <a:ln/>
        </p:spPr>
      </p:sp>
      <p:sp>
        <p:nvSpPr>
          <p:cNvPr id="30" name="Text 25"/>
          <p:cNvSpPr/>
          <p:nvPr/>
        </p:nvSpPr>
        <p:spPr>
          <a:xfrm>
            <a:off x="8003835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6"/>
          <p:cNvSpPr/>
          <p:nvPr/>
        </p:nvSpPr>
        <p:spPr>
          <a:xfrm>
            <a:off x="7388169" y="356616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497897" y="3803904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feeds back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497897" y="4169664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accepted fixes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596" y="3488436"/>
            <a:ext cx="237744" cy="20116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9661916" y="2468880"/>
            <a:ext cx="1962851" cy="2240280"/>
          </a:xfrm>
          <a:prstGeom prst="roundRect">
            <a:avLst>
              <a:gd name="adj" fmla="val 5590"/>
            </a:avLst>
          </a:prstGeom>
          <a:solidFill>
            <a:srgbClr val="111E33"/>
          </a:solidFill>
          <a:ln w="15875">
            <a:solidFill>
              <a:srgbClr val="5B9D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10277582" y="2743200"/>
            <a:ext cx="731520" cy="731520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37" name="Text 31"/>
          <p:cNvSpPr/>
          <p:nvPr/>
        </p:nvSpPr>
        <p:spPr>
          <a:xfrm>
            <a:off x="10277582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38" name="Text 32"/>
          <p:cNvSpPr/>
          <p:nvPr/>
        </p:nvSpPr>
        <p:spPr>
          <a:xfrm>
            <a:off x="9661916" y="356616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771644" y="3803904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retrains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771644" y="4169664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model adjustments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66928" y="5074920"/>
            <a:ext cx="11057839" cy="960120"/>
          </a:xfrm>
          <a:prstGeom prst="roundRect">
            <a:avLst>
              <a:gd name="adj" fmla="val 11429"/>
            </a:avLst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77824" y="532180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440680"/>
            <a:ext cx="219456" cy="21945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527048" y="5074920"/>
            <a:ext cx="97776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Ai-Price flows back to step 1.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challenges → 15 accepted corrections → 15 retrains. The feed SIX resells is sharper next snapshot — and SIX sits at the centre of the loop.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SAFE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and de-identified by design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only works if the feedback can't expose a client. So the boundary is hard-coded: only sector-level signal crosses to Tradeweb — never identity, never the basis a client cited, never the underlying bank marks.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5212080" cy="3246120"/>
          </a:xfrm>
          <a:prstGeom prst="roundRect">
            <a:avLst>
              <a:gd name="adj" fmla="val 3099"/>
            </a:avLst>
          </a:prstGeom>
          <a:solidFill>
            <a:srgbClr val="111E33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2331720"/>
            <a:ext cx="5212080" cy="3246120"/>
          </a:xfrm>
          <a:prstGeom prst="roundRect">
            <a:avLst>
              <a:gd name="adj" fmla="val 3099"/>
            </a:avLst>
          </a:prstGeom>
          <a:solidFill>
            <a:srgbClr val="111E33"/>
          </a:solidFill>
          <a:ln w="15875">
            <a:solidFill>
              <a:srgbClr val="5B9D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9144000"/>
            <a:ext cx="9144" cy="91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6968" y="2606040"/>
            <a:ext cx="502920" cy="502920"/>
          </a:xfrm>
          <a:prstGeom prst="roundRect">
            <a:avLst>
              <a:gd name="adj" fmla="val 26000"/>
            </a:avLst>
          </a:prstGeom>
          <a:solidFill>
            <a:srgbClr val="5B9D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" y="27367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7048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CROSSES TO TRADEWEB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337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Sector-level validation bias (e.g. GO −11bp cheap)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7822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6736" y="3995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counts — challenges, screened, off-market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736592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16736" y="46542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deviation magnitude (z), not the marks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355080" y="2331720"/>
            <a:ext cx="5212080" cy="3246120"/>
          </a:xfrm>
          <a:prstGeom prst="roundRect">
            <a:avLst>
              <a:gd name="adj" fmla="val 3099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675120" y="2606040"/>
            <a:ext cx="502920" cy="502920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879" y="2736799"/>
            <a:ext cx="241402" cy="24140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STAYS ON SIX'S SIDE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6729984" y="3429000"/>
            <a:ext cx="219456" cy="219456"/>
          </a:xfrm>
          <a:prstGeom prst="ellipse">
            <a:avLst/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114032" y="3337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Per-client identity — who raised a challenge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729984" y="4087368"/>
            <a:ext cx="219456" cy="219456"/>
          </a:xfrm>
          <a:prstGeom prst="ellipse">
            <a:avLst/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114032" y="3995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basis a client cited for its mark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729984" y="4745736"/>
            <a:ext cx="219456" cy="219456"/>
          </a:xfrm>
          <a:prstGeom prst="ellipse">
            <a:avLst/>
          </a:prstGeom>
          <a:solidFill>
            <a:srgbClr val="0A2A22"/>
          </a:solidFill>
          <a:ln w="15875">
            <a:solidFill>
              <a:srgbClr val="00D98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114032" y="46542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underlying bank marks behind consensus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6129"/>
            </a:avLst>
          </a:prstGeom>
          <a:solidFill>
            <a:srgbClr val="12172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907024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98448" y="5779008"/>
            <a:ext cx="10051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challenge can never be traced to the client that raised it. Reference-data corrections are instrument-level and carry no client information at all.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solidFill>
            <a:srgbClr val="070910"/>
          </a:solidFill>
          <a:ln w="12700">
            <a:solidFill>
              <a:srgbClr val="1C2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unique products, one defensible loop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× CLIENT ANALYTICS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91760" cy="1965960"/>
          </a:xfrm>
          <a:prstGeom prst="roundRect">
            <a:avLst>
              <a:gd name="adj" fmla="val 511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219456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69" y="2341961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18488" y="2167128"/>
            <a:ext cx="411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genuinely unique flows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2862072"/>
            <a:ext cx="475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consensus on non-trading bonds, and instrument-level reference-data corrections — neither is reproducible without SIX's client network.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3008" y="1874520"/>
            <a:ext cx="5391760" cy="1965960"/>
          </a:xfrm>
          <a:prstGeom prst="roundRect">
            <a:avLst>
              <a:gd name="adj" fmla="val 511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53048" y="219456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00D98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449" y="234196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84568" y="2167128"/>
            <a:ext cx="411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new revenue products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80480" y="2862072"/>
            <a:ext cx="475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consensus-deviation feed and an enriched bundle (price + SIX rates &amp; ref-data). Net-new analytics SIX can package and sell.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" y="4114800"/>
            <a:ext cx="5391760" cy="1965960"/>
          </a:xfrm>
          <a:prstGeom prst="roundRect">
            <a:avLst>
              <a:gd name="adj" fmla="val 511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86968" y="443484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5B9D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69" y="45822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18488" y="4407408"/>
            <a:ext cx="411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compounding moat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14400" y="5102352"/>
            <a:ext cx="475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improves the very Ai-Price feed SIX resells. Distribution stops being a margin and becomes a loop that competitors can't copy.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33008" y="4114800"/>
            <a:ext cx="5391760" cy="1965960"/>
          </a:xfrm>
          <a:prstGeom prst="roundRect">
            <a:avLst>
              <a:gd name="adj" fmla="val 5116"/>
            </a:avLst>
          </a:prstGeom>
          <a:solidFill>
            <a:srgbClr val="121726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53048" y="443484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5B9D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449" y="45822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84568" y="4407408"/>
            <a:ext cx="411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construction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580480" y="5102352"/>
            <a:ext cx="475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De-identified, instrument-level, aggregate-only across the boundary. The flywheel turns without ever exposing a client.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66928" y="61996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× Client Analytics  </a:t>
            </a:r>
            <a:pPr algn="l" indent="0" marL="0">
              <a:buNone/>
            </a:pPr>
            <a:r>
              <a:rPr lang="en-US" sz="1500" dirty="0">
                <a:solidFill>
                  <a:srgbClr val="9A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data was always flowing. We made it flow </a:t>
            </a:r>
            <a:pPr algn="l" indent="0" marL="0">
              <a:buNone/>
            </a:pPr>
            <a:r>
              <a:rPr lang="en-US" sz="1500" b="1" dirty="0">
                <a:solidFill>
                  <a:srgbClr val="00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 × Client Analytics</dc:title>
  <dc:subject>PptxGenJS Presentation</dc:subject>
  <dc:creator>OTTO AI</dc:creator>
  <cp:lastModifiedBy>OTTO AI</cp:lastModifiedBy>
  <cp:revision>1</cp:revision>
  <dcterms:created xsi:type="dcterms:W3CDTF">2026-06-20T10:11:42Z</dcterms:created>
  <dcterms:modified xsi:type="dcterms:W3CDTF">2026-06-20T10:11:42Z</dcterms:modified>
</cp:coreProperties>
</file>