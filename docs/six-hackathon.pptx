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8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lead with the moat — only SIX, in the middle, can compute whether a price is right; walk the four steps; land the three stats. Slide 2: let the GIF run — it is the real app with live data: the four-step dashboard, the consensus deviation, and the liquidity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271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200" dirty="0">
                <a:solidFill>
                  <a:srgbClr val="FAF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</a:t>
            </a:r>
            <a:r>
              <a:rPr lang="en-US" sz="1200" kern="0" spc="20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sz="1200" kern="0" spc="200" dirty="0">
                <a:solidFill>
                  <a:srgbClr val="FAF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TRADEWEB</a:t>
            </a:r>
            <a:r>
              <a:rPr lang="en-US" sz="1200" kern="0" spc="200" dirty="0">
                <a:solidFill>
                  <a:srgbClr val="6E6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MUNICIPAL AI-PRICE   ·   LIVE PROTOTYPE https://six-tradeweb.onrender.com/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SIX</a:t>
            </a:r>
            <a:r>
              <a:rPr lang="en-US" sz="4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tell you</a:t>
            </a:r>
            <a:endParaRPr lang="en-US" sz="4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bond’s price is right.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distributes Tradeweb’s prices and sees how its bank clients carry the bonds — so it can judge a price and sell the judgement back. Tradeweb can’t (it never sees client books); no single bank can (it sees only its own mark).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2578608" cy="1481328"/>
          </a:xfrm>
          <a:prstGeom prst="roundRect">
            <a:avLst>
              <a:gd name="adj" fmla="val 3704"/>
            </a:avLst>
          </a:prstGeom>
          <a:solidFill>
            <a:srgbClr val="1C1C1F"/>
          </a:solidFill>
          <a:ln w="9525">
            <a:solidFill>
              <a:srgbClr val="2A2A2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33558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22376" y="37810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22376" y="39776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 SIX sells today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" y="42245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Tradeweb prices the bonds; clients mark portfolio NAV off the feed.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96996" y="3246120"/>
            <a:ext cx="2578608" cy="1481328"/>
          </a:xfrm>
          <a:prstGeom prst="roundRect">
            <a:avLst>
              <a:gd name="adj" fmla="val 3704"/>
            </a:avLst>
          </a:prstGeom>
          <a:solidFill>
            <a:srgbClr val="1C1C1F"/>
          </a:solidFill>
          <a:ln w="9525">
            <a:solidFill>
              <a:srgbClr val="2A2A2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1588" y="33558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570732" y="37810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70732" y="39776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SIX-only data on top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70732" y="42245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Golden-copy reference data, a risk-free curve and corporate actions.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45352" y="3246120"/>
            <a:ext cx="2578608" cy="1481328"/>
          </a:xfrm>
          <a:prstGeom prst="roundRect">
            <a:avLst>
              <a:gd name="adj" fmla="val 3704"/>
            </a:avLst>
          </a:prstGeom>
          <a:solidFill>
            <a:srgbClr val="24151A"/>
          </a:solidFill>
          <a:ln w="15875">
            <a:solidFill>
              <a:srgbClr val="E2001A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9944" y="33558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7854696" y="3410712"/>
            <a:ext cx="804672" cy="237744"/>
          </a:xfrm>
          <a:prstGeom prst="rect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54696" y="34107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19088" y="37810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19088" y="39776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 no one else has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19088" y="42245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banks carry a bond vs Tradeweb’s price — a second opinion that exists nowhere else.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93708" y="3246120"/>
            <a:ext cx="2578608" cy="1481328"/>
          </a:xfrm>
          <a:prstGeom prst="roundRect">
            <a:avLst>
              <a:gd name="adj" fmla="val 3704"/>
            </a:avLst>
          </a:prstGeom>
          <a:solidFill>
            <a:srgbClr val="1C1C1F"/>
          </a:solidFill>
          <a:ln w="9525">
            <a:solidFill>
              <a:srgbClr val="2A2A2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58300" y="33558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9267444" y="37810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MONETIZE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267444" y="39776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revenue flywheel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267444" y="42245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flow back to Tradeweb; the feed SIX resells gets better, and worth more.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51389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4300" dirty="0"/>
          </a:p>
        </p:txBody>
      </p:sp>
      <p:sp>
        <p:nvSpPr>
          <p:cNvPr id="28" name="Text 26"/>
          <p:cNvSpPr/>
          <p:nvPr/>
        </p:nvSpPr>
        <p:spPr>
          <a:xfrm>
            <a:off x="585216" y="58521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bonds flagged off-market vs where banks actually carry them — live.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25112" y="51389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300" dirty="0"/>
          </a:p>
        </p:txBody>
      </p:sp>
      <p:sp>
        <p:nvSpPr>
          <p:cNvPr id="30" name="Text 28"/>
          <p:cNvSpPr/>
          <p:nvPr/>
        </p:nvSpPr>
        <p:spPr>
          <a:xfrm>
            <a:off x="4361688" y="58521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books fused into one consensus per bond, even when it never trades.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01584" y="51389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300" dirty="0"/>
          </a:p>
        </p:txBody>
      </p:sp>
      <p:sp>
        <p:nvSpPr>
          <p:cNvPr id="32" name="Text 30"/>
          <p:cNvSpPr/>
          <p:nvPr/>
        </p:nvSpPr>
        <p:spPr>
          <a:xfrm>
            <a:off x="8138160" y="58521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positioned to compute it — the one sitting in the middle.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E6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prototype  ·  FastAPI  ·  async Postgres  ·  live consensus engine  ·  liquidity graph  ·  deploys on Render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200" dirty="0">
                <a:solidFill>
                  <a:srgbClr val="11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</a:t>
            </a:r>
            <a:r>
              <a:rPr lang="en-US" sz="1200" kern="0" spc="20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sz="1200" kern="0" spc="200" dirty="0">
                <a:solidFill>
                  <a:srgbClr val="6E6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TRADEWEB   ·   DEMO (LIVE on https://six-tradeweb.onrender.com/)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prototype — live, not mocked.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17904"/>
            <a:ext cx="7744968" cy="48787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4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outputs/six-tradeweb-dem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2768"/>
            <a:ext cx="7635240" cy="4769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1540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GIF animates in slideshow / Microsoft 365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YOU’RE SEEING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49640" y="1993392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four-step journey, end to end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SIX consensus vs Tradeweb Ai-Price — 8 of 12 off-market</a:t>
            </a:r>
            <a:endParaRPr lang="en-US" sz="13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Issuer–sector liquidity graph that propagates pricing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4964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49640" y="44988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async SQLAlchemy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· pure-Python pricing engine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 tests · deploys on Render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367</Words>
  <Application>Microsoft Office PowerPoint</Application>
  <PresentationFormat>Widescreen</PresentationFormat>
  <Paragraphs>42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Courier New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 x Tradeweb - Municipal Ai-Price</dc:title>
  <dc:subject>PptxGenJS Presentation</dc:subject>
  <dc:creator>SIX x Tradeweb</dc:creator>
  <cp:lastModifiedBy>Frederec Im</cp:lastModifiedBy>
  <cp:revision>2</cp:revision>
  <dcterms:created xsi:type="dcterms:W3CDTF">2026-06-20T14:39:40Z</dcterms:created>
  <dcterms:modified xsi:type="dcterms:W3CDTF">2026-06-20T14:44:37Z</dcterms:modified>
</cp:coreProperties>
</file>